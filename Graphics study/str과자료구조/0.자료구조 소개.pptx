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ko.wikipedia.org/wiki/%EC%BB%B4%ED%93%A8%ED%84%B0_%EA%B3%BC%ED%95%99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86" name="Google Shape;86;p13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87" name="Google Shape;87;p1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8" name="Google Shape;88;p13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b="0" i="0" sz="10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9" name="Google Shape;89;p13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90" name="Google Shape;90;p1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91" name="Google Shape;91;p13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92" name="Google Shape;92;p13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3" name="Google Shape;93;p1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4" name="Google Shape;94;p13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5" name="Google Shape;95;p13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96" name="Google Shape;96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7" name="Google Shape;97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8" name="Google Shape;98;p13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99" name="Google Shape;99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0" name="Google Shape;100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1" name="Google Shape;101;p13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02" name="Google Shape;102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3" name="Google Shape;103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04" name="Google Shape;104;p13"/>
              <p:cNvCxnSpPr>
                <a:stCxn id="89" idx="3"/>
                <a:endCxn id="93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05" name="Google Shape;105;p13"/>
              <p:cNvCxnSpPr>
                <a:stCxn id="93" idx="2"/>
                <a:endCxn id="99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06" name="Google Shape;106;p13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7" name="Google Shape;107;p13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8" name="Google Shape;10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Malgun Gothic"/>
              <a:buNone/>
            </a:pPr>
            <a:r>
              <a:rPr lang="en-US" sz="8800"/>
              <a:t>자료구조</a:t>
            </a:r>
            <a:endParaRPr sz="8800"/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1524000" y="363061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자료구조와 알고리즘</a:t>
            </a:r>
            <a:endParaRPr sz="3200"/>
          </a:p>
        </p:txBody>
      </p:sp>
      <p:sp>
        <p:nvSpPr>
          <p:cNvPr id="110" name="Google Shape;110;p13"/>
          <p:cNvSpPr txBox="1"/>
          <p:nvPr/>
        </p:nvSpPr>
        <p:spPr>
          <a:xfrm>
            <a:off x="9226550" y="5989419"/>
            <a:ext cx="296545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 1.03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downkhg@gmail.com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김홍규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116" name="Google Shape;116;p14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17" name="Google Shape;117;p14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118" name="Google Shape;118;p14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9" name="Google Shape;119;p1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20" name="Google Shape;120;p14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21" name="Google Shape;121;p14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22" name="Google Shape;122;p14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23" name="Google Shape;123;p14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6" name="Google Shape;126;p14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9" name="Google Shape;129;p14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30" name="Google Shape;130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1" name="Google Shape;131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2" name="Google Shape;132;p14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33" name="Google Shape;133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35" name="Google Shape;135;p14"/>
              <p:cNvCxnSpPr>
                <a:stCxn id="120" idx="3"/>
                <a:endCxn id="12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36" name="Google Shape;136;p14"/>
              <p:cNvCxnSpPr>
                <a:stCxn id="124" idx="2"/>
                <a:endCxn id="13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37" name="Google Shape;137;p1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38" name="Google Shape;138;p14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9" name="Google Shape;13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자료구조와 알고리즘</a:t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838200" y="1825625"/>
            <a:ext cx="10515600" cy="1183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자료구조: 컴퓨터에서 자료를 표현하는 방법.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알고리즘: 자료구조로 표현된 데이터를 처리하는 방법.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939083" y="3776328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선형구조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590478" y="3776328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배열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590478" y="4487715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리스트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590478" y="5261100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큐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5" name="Google Shape;145;p14"/>
          <p:cNvCxnSpPr>
            <a:stCxn id="141" idx="3"/>
            <a:endCxn id="142" idx="1"/>
          </p:cNvCxnSpPr>
          <p:nvPr/>
        </p:nvCxnSpPr>
        <p:spPr>
          <a:xfrm>
            <a:off x="2298773" y="4050648"/>
            <a:ext cx="291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6" name="Google Shape;146;p14"/>
          <p:cNvCxnSpPr>
            <a:endCxn id="143" idx="1"/>
          </p:cNvCxnSpPr>
          <p:nvPr/>
        </p:nvCxnSpPr>
        <p:spPr>
          <a:xfrm flipH="1" rot="-5400000">
            <a:off x="2161928" y="4333485"/>
            <a:ext cx="711300" cy="1458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7" name="Google Shape;147;p14"/>
          <p:cNvCxnSpPr>
            <a:stCxn id="141" idx="3"/>
            <a:endCxn id="144" idx="1"/>
          </p:cNvCxnSpPr>
          <p:nvPr/>
        </p:nvCxnSpPr>
        <p:spPr>
          <a:xfrm>
            <a:off x="2298773" y="4050648"/>
            <a:ext cx="291600" cy="1484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8" name="Google Shape;148;p14"/>
          <p:cNvSpPr txBox="1"/>
          <p:nvPr/>
        </p:nvSpPr>
        <p:spPr>
          <a:xfrm>
            <a:off x="802328" y="3119966"/>
            <a:ext cx="10515600" cy="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자료구조의 분류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546673" y="3776327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비선형구조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6198068" y="3776327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198068" y="4487714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그래프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2" name="Google Shape;152;p14"/>
          <p:cNvCxnSpPr>
            <a:stCxn id="149" idx="3"/>
            <a:endCxn id="150" idx="1"/>
          </p:cNvCxnSpPr>
          <p:nvPr/>
        </p:nvCxnSpPr>
        <p:spPr>
          <a:xfrm>
            <a:off x="5906363" y="4050647"/>
            <a:ext cx="291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>
            <a:endCxn id="151" idx="1"/>
          </p:cNvCxnSpPr>
          <p:nvPr/>
        </p:nvCxnSpPr>
        <p:spPr>
          <a:xfrm flipH="1" rot="-5400000">
            <a:off x="5769518" y="4333484"/>
            <a:ext cx="711300" cy="1458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4" name="Google Shape;154;p14"/>
          <p:cNvSpPr/>
          <p:nvPr/>
        </p:nvSpPr>
        <p:spPr>
          <a:xfrm>
            <a:off x="2525306" y="4428447"/>
            <a:ext cx="1490035" cy="66717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6132896" y="3714329"/>
            <a:ext cx="1490035" cy="66717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2590478" y="5945514"/>
            <a:ext cx="1359690" cy="54864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스택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7" name="Google Shape;157;p14"/>
          <p:cNvCxnSpPr>
            <a:stCxn id="141" idx="3"/>
            <a:endCxn id="156" idx="1"/>
          </p:cNvCxnSpPr>
          <p:nvPr/>
        </p:nvCxnSpPr>
        <p:spPr>
          <a:xfrm>
            <a:off x="2298773" y="4050648"/>
            <a:ext cx="291600" cy="21693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5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163" name="Google Shape;163;p1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64" name="Google Shape;164;p15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68" name="Google Shape;168;p15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69" name="Google Shape;169;p1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70" name="Google Shape;170;p1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1" name="Google Shape;171;p15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2" name="Google Shape;172;p15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3" name="Google Shape;173;p15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74" name="Google Shape;174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5" name="Google Shape;175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6" name="Google Shape;176;p15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77" name="Google Shape;177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78" name="Google Shape;178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79" name="Google Shape;179;p1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80" name="Google Shape;180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1" name="Google Shape;181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82" name="Google Shape;182;p15"/>
              <p:cNvCxnSpPr>
                <a:stCxn id="167" idx="3"/>
                <a:endCxn id="171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83" name="Google Shape;183;p15"/>
              <p:cNvCxnSpPr>
                <a:stCxn id="171" idx="2"/>
                <a:endCxn id="177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84" name="Google Shape;184;p15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85" name="Google Shape;185;p15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6" name="Google Shape;18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알고리즘의 평가하는 요소</a:t>
            </a:r>
            <a:endParaRPr/>
          </a:p>
        </p:txBody>
      </p:sp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838200" y="1825624"/>
            <a:ext cx="10515600" cy="1634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시간의 복잡도(Time Complexity) -&gt; 처리속도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공간의 복잡도(Space Complexity) -&gt; 메모리의 사용량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점근식 표기법(Big-O) -&gt; 복잡도를 도식화 해서 나타내는 단위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838200" y="39096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평가방법</a:t>
            </a:r>
            <a:endParaRPr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02328" y="5022297"/>
            <a:ext cx="10515600" cy="97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프로젝트나 플렛폼마다 성향이 다를 수 있지만 대체적으로 시간의복잡도, 즉, 처리속도를 가장 중요 시 한다.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20264" y="4901272"/>
            <a:ext cx="9155009" cy="109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sz="4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무겁다! 가볍다!</a:t>
            </a:r>
            <a:endParaRPr sz="4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16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196" name="Google Shape;196;p16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97" name="Google Shape;197;p16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198" name="Google Shape;198;p16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99" name="Google Shape;199;p16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00" name="Google Shape;200;p16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01" name="Google Shape;201;p16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202" name="Google Shape;202;p16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203" name="Google Shape;203;p16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4" name="Google Shape;204;p1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5" name="Google Shape;205;p16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6" name="Google Shape;206;p1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07" name="Google Shape;207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08" name="Google Shape;208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09" name="Google Shape;209;p16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10" name="Google Shape;210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1" name="Google Shape;211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12" name="Google Shape;212;p16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13" name="Google Shape;213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14" name="Google Shape;214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215" name="Google Shape;215;p16"/>
              <p:cNvCxnSpPr>
                <a:stCxn id="200" idx="3"/>
                <a:endCxn id="20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216" name="Google Shape;216;p16"/>
              <p:cNvCxnSpPr>
                <a:stCxn id="204" idx="2"/>
                <a:endCxn id="21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217" name="Google Shape;217;p16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18" name="Google Shape;218;p1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19" name="Google Shape;21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자료구조를 배우는 이유?</a:t>
            </a:r>
            <a:endParaRPr/>
          </a:p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모든 프로그램은 데이터를 처리하여 그 결과를 사용자에게 보여주는 것이다.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자료구조를 처리하는 방식을 생각하며 직접 코딩하며,</a:t>
            </a:r>
            <a:br>
              <a:rPr lang="en-US"/>
            </a:br>
            <a:r>
              <a:rPr lang="en-US"/>
              <a:t>어떻게 프로그래밍언어를 사용할지 고민하는 데 에 가치가 있다.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알고리즘의 평가를 통해 프로그램의 최적화하는데 도움을 준다.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26" name="Google Shape;226;p17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227" name="Google Shape;227;p17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228" name="Google Shape;228;p17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29" name="Google Shape;229;p17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0" name="Google Shape;230;p17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31" name="Google Shape;231;p17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232" name="Google Shape;232;p17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233" name="Google Shape;233;p17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4" name="Google Shape;234;p17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5" name="Google Shape;235;p1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6" name="Google Shape;236;p17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37" name="Google Shape;237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8" name="Google Shape;238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9" name="Google Shape;239;p1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40" name="Google Shape;240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41" name="Google Shape;241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42" name="Google Shape;242;p17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43" name="Google Shape;243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44" name="Google Shape;244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245" name="Google Shape;245;p17"/>
              <p:cNvCxnSpPr>
                <a:stCxn id="230" idx="3"/>
                <a:endCxn id="23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246" name="Google Shape;246;p17"/>
              <p:cNvCxnSpPr>
                <a:stCxn id="234" idx="2"/>
                <a:endCxn id="24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247" name="Google Shape;247;p17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48" name="Google Shape;248;p17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9" name="Google Shape;24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게임과 자료구조?</a:t>
            </a:r>
            <a:endParaRPr/>
          </a:p>
        </p:txBody>
      </p:sp>
      <p:sp>
        <p:nvSpPr>
          <p:cNvPr id="250" name="Google Shape;250;p17"/>
          <p:cNvSpPr txBox="1"/>
          <p:nvPr>
            <p:ph idx="1" type="body"/>
          </p:nvPr>
        </p:nvSpPr>
        <p:spPr>
          <a:xfrm>
            <a:off x="838199" y="1825625"/>
            <a:ext cx="10876005" cy="2894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게임에서도 자료가 처리된다.</a:t>
            </a:r>
            <a:br>
              <a:rPr lang="en-US"/>
            </a:br>
            <a:r>
              <a:rPr lang="en-US" sz="2000"/>
              <a:t>ex)게임저장,사용자정보,게임내의 전투 및 아이템구매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이 자료구조의 방법론이 바뀌어서 사용되거나 할 일은 거이 없다.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자료구조에서 다루는 메커니즘을 고민함으로써,</a:t>
            </a:r>
            <a:br>
              <a:rPr lang="en-US"/>
            </a:br>
            <a:r>
              <a:rPr lang="en-US"/>
              <a:t>코더에서 프로그래머가 되기 위한 토대를 마련할 수 있다.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최적화가 필요할 때 기반이 되는 지식을 습득할 수 있다.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18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56" name="Google Shape;256;p1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257" name="Google Shape;257;p18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258" name="Google Shape;258;p1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9" name="Google Shape;259;p18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60" name="Google Shape;260;p18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61" name="Google Shape;261;p18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262" name="Google Shape;262;p18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263" name="Google Shape;263;p18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4" name="Google Shape;264;p18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5" name="Google Shape;265;p18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66" name="Google Shape;266;p18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67" name="Google Shape;267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8" name="Google Shape;268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69" name="Google Shape;269;p18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0" name="Google Shape;270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71" name="Google Shape;271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72" name="Google Shape;272;p1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3" name="Google Shape;273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74" name="Google Shape;274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275" name="Google Shape;275;p18"/>
              <p:cNvCxnSpPr>
                <a:stCxn id="260" idx="3"/>
                <a:endCxn id="26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276" name="Google Shape;276;p18"/>
              <p:cNvCxnSpPr>
                <a:stCxn id="264" idx="2"/>
                <a:endCxn id="27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277" name="Google Shape;277;p18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78" name="Google Shape;278;p18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9" name="Google Shape;27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자료구조 학습순서</a:t>
            </a:r>
            <a:endParaRPr/>
          </a:p>
        </p:txBody>
      </p:sp>
      <p:sp>
        <p:nvSpPr>
          <p:cNvPr id="280" name="Google Shape;28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t/>
            </a:r>
            <a:endParaRPr sz="2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연결 리스트(Linked List)</a:t>
            </a:r>
            <a:endParaRPr sz="3600"/>
          </a:p>
          <a:p>
            <a:pPr indent="-3492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algun Gothic"/>
              <a:buNone/>
            </a:pPr>
            <a:r>
              <a:t/>
            </a:r>
            <a:endParaRPr sz="2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정렬(Sort)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</a:pPr>
            <a:r>
              <a:t/>
            </a:r>
            <a:endParaRPr sz="3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이진 트리(Binary Tree)</a:t>
            </a:r>
            <a:br>
              <a:rPr lang="en-US" sz="3600"/>
            </a:br>
            <a:endParaRPr sz="2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STL사용하기</a:t>
            </a:r>
            <a:endParaRPr sz="3600"/>
          </a:p>
        </p:txBody>
      </p:sp>
      <p:grpSp>
        <p:nvGrpSpPr>
          <p:cNvPr id="281" name="Google Shape;281;p18"/>
          <p:cNvGrpSpPr/>
          <p:nvPr/>
        </p:nvGrpSpPr>
        <p:grpSpPr>
          <a:xfrm>
            <a:off x="6596191" y="2052212"/>
            <a:ext cx="6044718" cy="1030699"/>
            <a:chOff x="6596191" y="2052212"/>
            <a:chExt cx="6044718" cy="1030699"/>
          </a:xfrm>
        </p:grpSpPr>
        <p:grpSp>
          <p:nvGrpSpPr>
            <p:cNvPr id="282" name="Google Shape;282;p18"/>
            <p:cNvGrpSpPr/>
            <p:nvPr/>
          </p:nvGrpSpPr>
          <p:grpSpPr>
            <a:xfrm>
              <a:off x="6596191" y="2052212"/>
              <a:ext cx="4879572" cy="742204"/>
              <a:chOff x="1396537" y="3507971"/>
              <a:chExt cx="8744228" cy="1330036"/>
            </a:xfrm>
          </p:grpSpPr>
          <p:grpSp>
            <p:nvGrpSpPr>
              <p:cNvPr id="283" name="Google Shape;283;p18"/>
              <p:cNvGrpSpPr/>
              <p:nvPr/>
            </p:nvGrpSpPr>
            <p:grpSpPr>
              <a:xfrm>
                <a:off x="1396537" y="3657596"/>
                <a:ext cx="1446415" cy="1030778"/>
                <a:chOff x="1363287" y="3507971"/>
                <a:chExt cx="1446415" cy="1030778"/>
              </a:xfrm>
            </p:grpSpPr>
            <p:sp>
              <p:nvSpPr>
                <p:cNvPr id="284" name="Google Shape;284;p18"/>
                <p:cNvSpPr/>
                <p:nvPr/>
              </p:nvSpPr>
              <p:spPr>
                <a:xfrm>
                  <a:off x="1363287" y="3507971"/>
                  <a:ext cx="1446415" cy="58189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Begin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85" name="Google Shape;285;p18"/>
                <p:cNvSpPr/>
                <p:nvPr/>
              </p:nvSpPr>
              <p:spPr>
                <a:xfrm>
                  <a:off x="1363287" y="4089862"/>
                  <a:ext cx="1446415" cy="44888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0x00</a:t>
                  </a:r>
                  <a:endParaRPr sz="10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86" name="Google Shape;286;p18"/>
              <p:cNvGrpSpPr/>
              <p:nvPr/>
            </p:nvGrpSpPr>
            <p:grpSpPr>
              <a:xfrm>
                <a:off x="3363359" y="3507971"/>
                <a:ext cx="1446415" cy="1330036"/>
                <a:chOff x="3363359" y="3507971"/>
                <a:chExt cx="1446415" cy="1330036"/>
              </a:xfrm>
            </p:grpSpPr>
            <p:grpSp>
              <p:nvGrpSpPr>
                <p:cNvPr id="287" name="Google Shape;287;p18"/>
                <p:cNvGrpSpPr/>
                <p:nvPr/>
              </p:nvGrpSpPr>
              <p:grpSpPr>
                <a:xfrm>
                  <a:off x="3363359" y="3507971"/>
                  <a:ext cx="1446415" cy="1030778"/>
                  <a:chOff x="1363287" y="3507971"/>
                  <a:chExt cx="1446415" cy="1030778"/>
                </a:xfrm>
              </p:grpSpPr>
              <p:sp>
                <p:nvSpPr>
                  <p:cNvPr id="288" name="Google Shape;288;p18"/>
                  <p:cNvSpPr/>
                  <p:nvPr/>
                </p:nvSpPr>
                <p:spPr>
                  <a:xfrm>
                    <a:off x="1363287" y="3507971"/>
                    <a:ext cx="1446415" cy="58189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0x00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89" name="Google Shape;289;p18"/>
                  <p:cNvSpPr/>
                  <p:nvPr/>
                </p:nvSpPr>
                <p:spPr>
                  <a:xfrm>
                    <a:off x="1363287" y="4089862"/>
                    <a:ext cx="1446415" cy="448887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sp>
              <p:nvSpPr>
                <p:cNvPr id="290" name="Google Shape;290;p18"/>
                <p:cNvSpPr/>
                <p:nvPr/>
              </p:nvSpPr>
              <p:spPr>
                <a:xfrm>
                  <a:off x="3363359" y="4538749"/>
                  <a:ext cx="1446415" cy="29925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0x01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91" name="Google Shape;291;p18"/>
              <p:cNvGrpSpPr/>
              <p:nvPr/>
            </p:nvGrpSpPr>
            <p:grpSpPr>
              <a:xfrm>
                <a:off x="5161679" y="3507971"/>
                <a:ext cx="1446415" cy="1330036"/>
                <a:chOff x="3363359" y="3507971"/>
                <a:chExt cx="1446415" cy="1330036"/>
              </a:xfrm>
            </p:grpSpPr>
            <p:grpSp>
              <p:nvGrpSpPr>
                <p:cNvPr id="292" name="Google Shape;292;p18"/>
                <p:cNvGrpSpPr/>
                <p:nvPr/>
              </p:nvGrpSpPr>
              <p:grpSpPr>
                <a:xfrm>
                  <a:off x="3363359" y="3507971"/>
                  <a:ext cx="1446415" cy="1030778"/>
                  <a:chOff x="1363287" y="3507971"/>
                  <a:chExt cx="1446415" cy="1030778"/>
                </a:xfrm>
              </p:grpSpPr>
              <p:sp>
                <p:nvSpPr>
                  <p:cNvPr id="293" name="Google Shape;293;p18"/>
                  <p:cNvSpPr/>
                  <p:nvPr/>
                </p:nvSpPr>
                <p:spPr>
                  <a:xfrm>
                    <a:off x="1363287" y="3507971"/>
                    <a:ext cx="1446415" cy="58189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0x01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94" name="Google Shape;294;p18"/>
                  <p:cNvSpPr/>
                  <p:nvPr/>
                </p:nvSpPr>
                <p:spPr>
                  <a:xfrm>
                    <a:off x="1363287" y="4089862"/>
                    <a:ext cx="1446415" cy="448887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B</a:t>
                    </a:r>
                    <a:endParaRPr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sp>
              <p:nvSpPr>
                <p:cNvPr id="295" name="Google Shape;295;p18"/>
                <p:cNvSpPr/>
                <p:nvPr/>
              </p:nvSpPr>
              <p:spPr>
                <a:xfrm>
                  <a:off x="3363359" y="4538749"/>
                  <a:ext cx="1446415" cy="29925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0x02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96" name="Google Shape;296;p18"/>
              <p:cNvGrpSpPr/>
              <p:nvPr/>
            </p:nvGrpSpPr>
            <p:grpSpPr>
              <a:xfrm>
                <a:off x="6940712" y="3507971"/>
                <a:ext cx="1446415" cy="1330036"/>
                <a:chOff x="3363359" y="3507971"/>
                <a:chExt cx="1446415" cy="1330036"/>
              </a:xfrm>
            </p:grpSpPr>
            <p:grpSp>
              <p:nvGrpSpPr>
                <p:cNvPr id="297" name="Google Shape;297;p18"/>
                <p:cNvGrpSpPr/>
                <p:nvPr/>
              </p:nvGrpSpPr>
              <p:grpSpPr>
                <a:xfrm>
                  <a:off x="3363359" y="3507971"/>
                  <a:ext cx="1446415" cy="1030778"/>
                  <a:chOff x="1363287" y="3507971"/>
                  <a:chExt cx="1446415" cy="1030778"/>
                </a:xfrm>
              </p:grpSpPr>
              <p:sp>
                <p:nvSpPr>
                  <p:cNvPr id="298" name="Google Shape;298;p18"/>
                  <p:cNvSpPr/>
                  <p:nvPr/>
                </p:nvSpPr>
                <p:spPr>
                  <a:xfrm>
                    <a:off x="1363287" y="3507971"/>
                    <a:ext cx="1446415" cy="58189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0x02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99" name="Google Shape;299;p18"/>
                  <p:cNvSpPr/>
                  <p:nvPr/>
                </p:nvSpPr>
                <p:spPr>
                  <a:xfrm>
                    <a:off x="1363287" y="4089862"/>
                    <a:ext cx="1446415" cy="448887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</a:t>
                    </a:r>
                    <a:endParaRPr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sp>
              <p:nvSpPr>
                <p:cNvPr id="300" name="Google Shape;300;p18"/>
                <p:cNvSpPr/>
                <p:nvPr/>
              </p:nvSpPr>
              <p:spPr>
                <a:xfrm>
                  <a:off x="3363359" y="4538749"/>
                  <a:ext cx="1446415" cy="29925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0x03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01" name="Google Shape;301;p18"/>
              <p:cNvGrpSpPr/>
              <p:nvPr/>
            </p:nvGrpSpPr>
            <p:grpSpPr>
              <a:xfrm>
                <a:off x="8694350" y="3507971"/>
                <a:ext cx="1446415" cy="1330036"/>
                <a:chOff x="3363359" y="3507971"/>
                <a:chExt cx="1446415" cy="1330036"/>
              </a:xfrm>
            </p:grpSpPr>
            <p:grpSp>
              <p:nvGrpSpPr>
                <p:cNvPr id="302" name="Google Shape;302;p18"/>
                <p:cNvGrpSpPr/>
                <p:nvPr/>
              </p:nvGrpSpPr>
              <p:grpSpPr>
                <a:xfrm>
                  <a:off x="3363359" y="3507971"/>
                  <a:ext cx="1446415" cy="1030778"/>
                  <a:chOff x="1363287" y="3507971"/>
                  <a:chExt cx="1446415" cy="1030778"/>
                </a:xfrm>
              </p:grpSpPr>
              <p:sp>
                <p:nvSpPr>
                  <p:cNvPr id="303" name="Google Shape;303;p18"/>
                  <p:cNvSpPr/>
                  <p:nvPr/>
                </p:nvSpPr>
                <p:spPr>
                  <a:xfrm>
                    <a:off x="1363287" y="3507971"/>
                    <a:ext cx="1446415" cy="58189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0x03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04" name="Google Shape;304;p18"/>
                  <p:cNvSpPr/>
                  <p:nvPr/>
                </p:nvSpPr>
                <p:spPr>
                  <a:xfrm>
                    <a:off x="1363287" y="4089862"/>
                    <a:ext cx="1446415" cy="448887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sp>
              <p:nvSpPr>
                <p:cNvPr id="305" name="Google Shape;305;p18"/>
                <p:cNvSpPr/>
                <p:nvPr/>
              </p:nvSpPr>
              <p:spPr>
                <a:xfrm>
                  <a:off x="3363359" y="4538749"/>
                  <a:ext cx="1446415" cy="299258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NULL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cxnSp>
            <p:nvCxnSpPr>
              <p:cNvPr id="306" name="Google Shape;306;p18"/>
              <p:cNvCxnSpPr>
                <a:stCxn id="285" idx="3"/>
                <a:endCxn id="288" idx="1"/>
              </p:cNvCxnSpPr>
              <p:nvPr/>
            </p:nvCxnSpPr>
            <p:spPr>
              <a:xfrm flipH="1" rot="10800000">
                <a:off x="2842952" y="3798831"/>
                <a:ext cx="520500" cy="665100"/>
              </a:xfrm>
              <a:prstGeom prst="bentConnector3">
                <a:avLst>
                  <a:gd fmla="val -1480756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307" name="Google Shape;307;p18"/>
              <p:cNvCxnSpPr>
                <a:stCxn id="290" idx="3"/>
                <a:endCxn id="293" idx="1"/>
              </p:cNvCxnSpPr>
              <p:nvPr/>
            </p:nvCxnSpPr>
            <p:spPr>
              <a:xfrm flipH="1" rot="10800000">
                <a:off x="4809774" y="3798878"/>
                <a:ext cx="351900" cy="8895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308" name="Google Shape;308;p18"/>
              <p:cNvCxnSpPr>
                <a:stCxn id="295" idx="3"/>
                <a:endCxn id="298" idx="1"/>
              </p:cNvCxnSpPr>
              <p:nvPr/>
            </p:nvCxnSpPr>
            <p:spPr>
              <a:xfrm flipH="1" rot="10800000">
                <a:off x="6608094" y="3798878"/>
                <a:ext cx="332700" cy="8895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309" name="Google Shape;309;p18"/>
              <p:cNvCxnSpPr>
                <a:stCxn id="300" idx="3"/>
                <a:endCxn id="303" idx="1"/>
              </p:cNvCxnSpPr>
              <p:nvPr/>
            </p:nvCxnSpPr>
            <p:spPr>
              <a:xfrm flipH="1" rot="10800000">
                <a:off x="8387127" y="3798878"/>
                <a:ext cx="307200" cy="8895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sp>
            <p:nvSpPr>
              <p:cNvPr id="310" name="Google Shape;310;p18"/>
              <p:cNvSpPr/>
              <p:nvPr/>
            </p:nvSpPr>
            <p:spPr>
              <a:xfrm>
                <a:off x="3363359" y="4538743"/>
                <a:ext cx="1446415" cy="29925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6940711" y="4538743"/>
                <a:ext cx="1446415" cy="299258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12" name="Google Shape;312;p18"/>
            <p:cNvSpPr txBox="1"/>
            <p:nvPr/>
          </p:nvSpPr>
          <p:spPr>
            <a:xfrm>
              <a:off x="10188654" y="2836690"/>
              <a:ext cx="2452255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 연결리스트의 구조</a:t>
              </a: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13" name="Google Shape;313;p18"/>
          <p:cNvGrpSpPr/>
          <p:nvPr/>
        </p:nvGrpSpPr>
        <p:grpSpPr>
          <a:xfrm>
            <a:off x="6631769" y="3310579"/>
            <a:ext cx="4036846" cy="2016224"/>
            <a:chOff x="6596191" y="3352066"/>
            <a:chExt cx="4036846" cy="2016224"/>
          </a:xfrm>
        </p:grpSpPr>
        <p:pic>
          <p:nvPicPr>
            <p:cNvPr id="314" name="Google Shape;31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96191" y="3352066"/>
              <a:ext cx="2594521" cy="2016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8"/>
            <p:cNvSpPr txBox="1"/>
            <p:nvPr/>
          </p:nvSpPr>
          <p:spPr>
            <a:xfrm>
              <a:off x="8180782" y="5054957"/>
              <a:ext cx="2452255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 이진트리의 구조</a:t>
              </a: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9399510" y="5326803"/>
            <a:ext cx="2195328" cy="960241"/>
            <a:chOff x="8686316" y="5718625"/>
            <a:chExt cx="2195328" cy="960241"/>
          </a:xfrm>
        </p:grpSpPr>
        <p:grpSp>
          <p:nvGrpSpPr>
            <p:cNvPr id="317" name="Google Shape;317;p18"/>
            <p:cNvGrpSpPr/>
            <p:nvPr/>
          </p:nvGrpSpPr>
          <p:grpSpPr>
            <a:xfrm>
              <a:off x="8741990" y="5718625"/>
              <a:ext cx="2139653" cy="714020"/>
              <a:chOff x="8701586" y="5952659"/>
              <a:chExt cx="2139653" cy="714020"/>
            </a:xfrm>
          </p:grpSpPr>
          <p:pic>
            <p:nvPicPr>
              <p:cNvPr descr="Wikipedia-logo-v2-200px-transparent.png" id="318" name="Google Shape;318;p18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01586" y="5952659"/>
                <a:ext cx="780959" cy="714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9" name="Google Shape;319;p18"/>
              <p:cNvSpPr txBox="1"/>
              <p:nvPr/>
            </p:nvSpPr>
            <p:spPr>
              <a:xfrm>
                <a:off x="9213669" y="6001646"/>
                <a:ext cx="16275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위키백과 링크</a:t>
                </a:r>
                <a:endParaRPr b="1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컴퓨터 과학</a:t>
                </a:r>
                <a:endParaRPr b="1" sz="2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20" name="Google Shape;320;p18"/>
            <p:cNvSpPr txBox="1"/>
            <p:nvPr/>
          </p:nvSpPr>
          <p:spPr>
            <a:xfrm>
              <a:off x="8686316" y="6432645"/>
              <a:ext cx="21953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 자료구조, 알고리즘 항목 참조</a:t>
              </a: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9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26" name="Google Shape;326;p19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27" name="Google Shape;327;p19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328" name="Google Shape;328;p19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29" name="Google Shape;329;p1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30" name="Google Shape;330;p19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31" name="Google Shape;331;p19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32" name="Google Shape;332;p19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333" name="Google Shape;333;p19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34" name="Google Shape;334;p19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35" name="Google Shape;335;p19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36" name="Google Shape;336;p19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37" name="Google Shape;337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38" name="Google Shape;338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39" name="Google Shape;339;p19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40" name="Google Shape;340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41" name="Google Shape;341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42" name="Google Shape;342;p19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43" name="Google Shape;343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44" name="Google Shape;344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345" name="Google Shape;345;p19"/>
              <p:cNvCxnSpPr>
                <a:stCxn id="330" idx="3"/>
                <a:endCxn id="33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346" name="Google Shape;346;p19"/>
              <p:cNvCxnSpPr>
                <a:stCxn id="334" idx="2"/>
                <a:endCxn id="34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347" name="Google Shape;347;p19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48" name="Google Shape;348;p1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49" name="Google Shape;34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Malgun Gothic"/>
              <a:buNone/>
            </a:pPr>
            <a:r>
              <a:rPr lang="en-US" sz="8800"/>
              <a:t>QnA</a:t>
            </a:r>
            <a:endParaRPr sz="8800"/>
          </a:p>
        </p:txBody>
      </p:sp>
      <p:sp>
        <p:nvSpPr>
          <p:cNvPr id="350" name="Google Shape;35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n-US" sz="7200"/>
              <a:t>감사합니다!</a:t>
            </a:r>
            <a:endParaRPr sz="7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